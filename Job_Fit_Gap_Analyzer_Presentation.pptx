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f65babbc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f65babbc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f65babbc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f65babbc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f65babbc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f65babbc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f65babbc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f65babbc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Job-Fit Gap Analyzer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2555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Client-side skill-gap analysis and career pathfinding for workers navigating automation and a changing labour market</a:t>
            </a:r>
            <a:endParaRPr/>
          </a:p>
        </p:txBody>
      </p:sp>
      <p:pic>
        <p:nvPicPr>
          <p:cNvPr id="56" name="Google Shape;56;p13" title="LOCKUP_HORIZONTAL_25D_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800" y="3713700"/>
            <a:ext cx="4566124" cy="108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se4ai.orgBlack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0100" y="3294950"/>
            <a:ext cx="1228800" cy="1600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Identification of Problem and Stakeholders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marL="285750" indent="-285750" lvl="0" rtl="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" b="1"/>
              <a:t xml:space="preserve">Problem: </a:t>
            </a:r>
            <a:r>
              <a:rPr lang="en"/>
              <a:t>automation &amp; economic shifts displace workers; grads can't find practical pathways</a:t>
            </a:r>
            <a:endParaRPr/>
          </a:p>
          <a:p>
            <a:pPr marL="285750" indent="-285750" lvl="0" rtl="0" algn="l">
              <a:spcBef>
                <a:spcPts val="1000"/>
              </a:spcBef>
              <a:spcAft>
                <a:spcPts val="1000"/>
              </a:spcAft>
              <a:buFont typeface="Arial"/>
              <a:buChar char="•"/>
            </a:pPr>
            <a:r>
              <a:rPr lang="en" b="1"/>
              <a:t xml:space="preserve">Gap: </a:t>
            </a:r>
            <a:r>
              <a:rPr lang="en"/>
              <a:t>job boards show openings, not which skills bridge the gap or which to learn first</a:t>
            </a:r>
            <a:endParaRPr/>
          </a:p>
          <a:p>
            <a:pPr marL="285750" indent="-285750" lvl="0" rtl="0" algn="l">
              <a:spcBef>
                <a:spcPts val="1000"/>
              </a:spcBef>
              <a:spcAft>
                <a:spcPts val="1000"/>
              </a:spcAft>
              <a:buFont typeface="Arial"/>
              <a:buChar char="•"/>
            </a:pPr>
            <a:r>
              <a:rPr lang="en" b="1"/>
              <a:t xml:space="preserve">Stakeholders: </a:t>
            </a:r>
            <a:r>
              <a:rPr lang="en"/>
              <a:t>displaced workers, new grads, career changers, workforce counselors</a:t>
            </a:r>
            <a:endParaRPr/>
          </a:p>
        </p:txBody>
      </p:sp>
      <p:pic>
        <p:nvPicPr>
          <p:cNvPr id="64" name="Google Shape;64;p14" title="CUBE_2D_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6201" y="193550"/>
            <a:ext cx="1243324" cy="141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Ethical Considerations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marL="285750" indent="-285750" lvl="0" rtl="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" b="1"/>
              <a:t xml:space="preserve">Privacy: </a:t>
            </a:r>
            <a:r>
              <a:rPr lang="en"/>
              <a:t>100% client-side — no server, no account, no data collection</a:t>
            </a:r>
            <a:endParaRPr/>
          </a:p>
          <a:p>
            <a:pPr marL="285750" indent="-285750" lvl="0" rtl="0" algn="l">
              <a:spcBef>
                <a:spcPts val="700"/>
              </a:spcBef>
              <a:spcAft>
                <a:spcPts val="700"/>
              </a:spcAft>
              <a:buFont typeface="Arial"/>
              <a:buChar char="•"/>
            </a:pPr>
            <a:r>
              <a:rPr lang="en" b="1"/>
              <a:t xml:space="preserve">Transparency: </a:t>
            </a:r>
            <a:r>
              <a:rPr lang="en"/>
              <a:t>every score's formula is shown in the UI — no black box</a:t>
            </a:r>
            <a:endParaRPr/>
          </a:p>
          <a:p>
            <a:pPr marL="285750" indent="-285750" lvl="0" rtl="0" algn="l">
              <a:spcBef>
                <a:spcPts val="700"/>
              </a:spcBef>
              <a:spcAft>
                <a:spcPts val="700"/>
              </a:spcAft>
              <a:buFont typeface="Arial"/>
              <a:buChar char="•"/>
            </a:pPr>
            <a:r>
              <a:rPr lang="en" b="1"/>
              <a:t xml:space="preserve">Bias: </a:t>
            </a:r>
            <a:r>
              <a:rPr lang="en"/>
              <a:t>lexicon matching disclosed as approximate — signals, not verdicts</a:t>
            </a:r>
            <a:endParaRPr/>
          </a:p>
          <a:p>
            <a:pPr marL="285750" indent="-285750" lvl="0" rtl="0" algn="l">
              <a:spcBef>
                <a:spcPts val="700"/>
              </a:spcBef>
              <a:spcAft>
                <a:spcPts val="700"/>
              </a:spcAft>
              <a:buFont typeface="Arial"/>
              <a:buChar char="•"/>
            </a:pPr>
            <a:r>
              <a:rPr lang="en" b="1"/>
              <a:t xml:space="preserve">Accountability: </a:t>
            </a:r>
            <a:r>
              <a:rPr lang="en"/>
              <a:t>"not a hiring prediction" disclaimer; thin-sample stats suppressed</a:t>
            </a:r>
            <a:endParaRPr/>
          </a:p>
          <a:p>
            <a:pPr marL="285750" indent="-285750" lvl="0" rtl="0" algn="l">
              <a:spcBef>
                <a:spcPts val="700"/>
              </a:spcBef>
              <a:spcAft>
                <a:spcPts val="700"/>
              </a:spcAft>
              <a:buFont typeface="Arial"/>
              <a:buChar char="•"/>
            </a:pPr>
            <a:r>
              <a:rPr lang="en" b="1"/>
              <a:t xml:space="preserve">Data ownership: </a:t>
            </a:r>
            <a:r>
              <a:rPr lang="en"/>
              <a:t>HF datasets attributed; applicant data disclosed as synthetic</a:t>
            </a:r>
            <a:endParaRPr/>
          </a:p>
        </p:txBody>
      </p:sp>
      <p:pic>
        <p:nvPicPr>
          <p:cNvPr id="71" name="Google Shape;71;p15" title="CUBE_2D_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6201" y="193550"/>
            <a:ext cx="1243324" cy="141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 Works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marL="285750" indent="-285750" lvl="0" rtl="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" b="1"/>
              <a:t xml:space="preserve">Pipeline: </a:t>
            </a:r>
            <a:r>
              <a:rPr lang="en"/>
              <a:t>fetch → aggregate → bake HF datasets into a static payload; app is pure client-side HTML/JS</a:t>
            </a:r>
            <a:endParaRPr/>
          </a:p>
          <a:p>
            <a:pPr marL="285750" indent="-285750" lvl="0" rtl="0" algn="l">
              <a:spcBef>
                <a:spcPts val="700"/>
              </a:spcBef>
              <a:spcAft>
                <a:spcPts val="700"/>
              </a:spcAft>
              <a:buFont typeface="Arial"/>
              <a:buChar char="•"/>
            </a:pPr>
            <a:r>
              <a:rPr lang="en" b="1"/>
              <a:t xml:space="preserve">Mode A — Benchmark: </a:t>
            </a:r>
            <a:r>
              <a:rPr lang="en"/>
              <a:t>CV auto-parsed; gaps scored against real postings for a target role</a:t>
            </a:r>
            <a:endParaRPr/>
          </a:p>
          <a:p>
            <a:pPr marL="285750" indent="-285750" lvl="0" rtl="0" algn="l">
              <a:spcBef>
                <a:spcPts val="700"/>
              </a:spcBef>
              <a:spcAft>
                <a:spcPts val="700"/>
              </a:spcAft>
              <a:buFont typeface="Arial"/>
              <a:buChar char="•"/>
            </a:pPr>
            <a:r>
              <a:rPr lang="en" b="1"/>
              <a:t xml:space="preserve">Mode B — Specific job: </a:t>
            </a:r>
            <a:r>
              <a:rPr lang="en"/>
              <a:t>CV scored against one pasted posting — skills matched, missing, experience fit</a:t>
            </a:r>
            <a:endParaRPr/>
          </a:p>
          <a:p>
            <a:pPr marL="285750" indent="-285750" lvl="0" rtl="0" algn="l">
              <a:spcBef>
                <a:spcPts val="700"/>
              </a:spcBef>
              <a:spcAft>
                <a:spcPts val="700"/>
              </a:spcAft>
              <a:buFont typeface="Arial"/>
              <a:buChar char="•"/>
            </a:pPr>
            <a:r>
              <a:rPr lang="en" b="1"/>
              <a:t xml:space="preserve">Mode C — Career Pathfinder: </a:t>
            </a:r>
            <a:r>
              <a:rPr lang="en"/>
              <a:t>roles as a graph — shortest-path search finds stepping-stone roles + a Skill ROI ranking</a:t>
            </a:r>
            <a:endParaRPr/>
          </a:p>
          <a:p>
            <a:pPr marL="285750" indent="-285750" lvl="0" rtl="0" algn="l">
              <a:spcBef>
                <a:spcPts val="700"/>
              </a:spcBef>
              <a:spcAft>
                <a:spcPts val="700"/>
              </a:spcAft>
              <a:buFont typeface="Arial"/>
              <a:buChar char="•"/>
            </a:pPr>
            <a:r>
              <a:rPr lang="en" b="1"/>
              <a:t xml:space="preserve">Honest framing: </a:t>
            </a:r>
            <a:r>
              <a:rPr lang="en"/>
              <a:t>a transparent, rule-based reasoning layer — not an LLM agent</a:t>
            </a:r>
            <a:endParaRPr/>
          </a:p>
        </p:txBody>
      </p:sp>
      <p:pic>
        <p:nvPicPr>
          <p:cNvPr id="78" name="Google Shape;78;p16" title="CUBE_2D_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6201" y="193550"/>
            <a:ext cx="1243324" cy="141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Scalability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marL="285750" indent="-285750" lvl="0" rtl="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" b="1"/>
              <a:t xml:space="preserve">Zero marginal cost: </a:t>
            </a:r>
            <a:r>
              <a:rPr lang="en"/>
              <a:t>no backend — static HTML/JS on any CDN, unlimited users at near-zero cost</a:t>
            </a:r>
            <a:endParaRPr/>
          </a:p>
          <a:p>
            <a:pPr marL="285750" indent="-285750" lvl="0" rtl="0" algn="l">
              <a:spcBef>
                <a:spcPts val="700"/>
              </a:spcBef>
              <a:spcAft>
                <a:spcPts val="700"/>
              </a:spcAft>
              <a:buFont typeface="Arial"/>
              <a:buChar char="•"/>
            </a:pPr>
            <a:r>
              <a:rPr lang="en" b="1"/>
              <a:t xml:space="preserve">Decoupled data refresh: </a:t>
            </a:r>
            <a:r>
              <a:rPr lang="en"/>
              <a:t>scheduled fetch → aggregate → bake pipeline; client app never changes</a:t>
            </a:r>
            <a:endParaRPr/>
          </a:p>
          <a:p>
            <a:pPr marL="285750" indent="-285750" lvl="0" rtl="0" algn="l">
              <a:spcBef>
                <a:spcPts val="700"/>
              </a:spcBef>
              <a:spcAft>
                <a:spcPts val="700"/>
              </a:spcAft>
              <a:buFont typeface="Arial"/>
              <a:buChar char="•"/>
            </a:pPr>
            <a:r>
              <a:rPr lang="en" b="1"/>
              <a:t xml:space="preserve">Extending coverage: </a:t>
            </a:r>
            <a:r>
              <a:rPr lang="en"/>
              <a:t>new roles = a regex + lexicon entry, no new matching logic</a:t>
            </a:r>
            <a:endParaRPr/>
          </a:p>
          <a:p>
            <a:pPr marL="285750" indent="-285750" lvl="0" rtl="0" algn="l">
              <a:spcBef>
                <a:spcPts val="700"/>
              </a:spcBef>
              <a:spcAft>
                <a:spcPts val="700"/>
              </a:spcAft>
              <a:buFont typeface="Arial"/>
              <a:buChar char="•"/>
            </a:pPr>
            <a:r>
              <a:rPr lang="en" b="1"/>
              <a:t xml:space="preserve">Known limitation: </a:t>
            </a:r>
            <a:r>
              <a:rPr lang="en"/>
              <a:t>some roles are thin on samples (e.g. ~71 postings for Customer Success)</a:t>
            </a:r>
            <a:endParaRPr/>
          </a:p>
          <a:p>
            <a:pPr marL="285750" indent="-285750" lvl="0" rtl="0" algn="l">
              <a:spcBef>
                <a:spcPts val="700"/>
              </a:spcBef>
              <a:spcAft>
                <a:spcPts val="700"/>
              </a:spcAft>
              <a:buFont typeface="Arial"/>
              <a:buChar char="•"/>
            </a:pPr>
            <a:r>
              <a:rPr lang="en" b="1"/>
              <a:t xml:space="preserve">Path to production: </a:t>
            </a:r>
            <a:r>
              <a:rPr lang="en"/>
              <a:t>swap in a richer taxonomy (e.g. O*NET) for public-sector scale</a:t>
            </a:r>
            <a:endParaRPr/>
          </a:p>
        </p:txBody>
      </p:sp>
      <p:pic>
        <p:nvPicPr>
          <p:cNvPr id="85" name="Google Shape;85;p17" title="CUBE_2D_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6201" y="193550"/>
            <a:ext cx="1243324" cy="141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